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88" r:id="rId5"/>
    <p:sldId id="269" r:id="rId6"/>
    <p:sldId id="294" r:id="rId7"/>
    <p:sldId id="295" r:id="rId8"/>
    <p:sldId id="296" r:id="rId9"/>
    <p:sldId id="297" r:id="rId10"/>
    <p:sldId id="298" r:id="rId11"/>
    <p:sldId id="299" r:id="rId12"/>
    <p:sldId id="293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D9A46-20DF-48B3-A542-164CA64A4D0A}" v="8" dt="2024-06-24T07:15:45.40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DEE7-B1C7-B77E-9460-BDE95D7C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69F37EDA-5D74-3B16-92DD-CF07C2582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1B60B6DF-8EAE-1B03-A620-A4433DA2AE7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67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7C2E-EBAA-1BDE-FCD9-9C8AB269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247FD5B4-2DF6-DCB8-6709-171B39B0E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D9FCBFE0-A071-C3C4-7BC6-CAF8CD736CD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0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7F58-0EE9-57C0-F23D-6FA1D86F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9F7A9DA8-F123-49A4-2DB2-34A3BFE9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72FD127C-9986-32AC-ABA6-7C8323B3327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5687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6882-91D5-E30B-CDA7-8347FDDF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BB68E14-0D97-6D3D-9800-C8F2EF0E7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9791969B-46BF-1D96-2893-C97A92F67FC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844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45B-8B02-C5DD-D869-93034876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D5E7362-F7D3-FFB6-04DC-5636B37C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E6C4D10E-6A8B-C14B-2663-3F8F2EB11C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33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4114-9B89-AA4D-2458-D97F667E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2190088-3BA2-17A5-7904-AD5732002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AD0FBAF-AF1B-AAE1-C5CC-957B86E8FC7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0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2.xml"/><Relationship Id="rId9" Type="http://schemas.openxmlformats.org/officeDocument/2006/relationships/image" Target="../media/image14.png"/><Relationship Id="rId1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4.xml"/><Relationship Id="rId9" Type="http://schemas.openxmlformats.org/officeDocument/2006/relationships/image" Target="../media/image14.png"/><Relationship Id="rId1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5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6.xml"/><Relationship Id="rId9" Type="http://schemas.openxmlformats.org/officeDocument/2006/relationships/image" Target="../media/image14.png"/><Relationship Id="rId1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7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8.xml"/><Relationship Id="rId9" Type="http://schemas.openxmlformats.org/officeDocument/2006/relationships/image" Target="../media/image14.png"/><Relationship Id="rId1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9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0.xml"/><Relationship Id="rId9" Type="http://schemas.openxmlformats.org/officeDocument/2006/relationships/image" Target="../media/image14.png"/><Relationship Id="rId1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2.xml"/><Relationship Id="rId9" Type="http://schemas.openxmlformats.org/officeDocument/2006/relationships/image" Target="../media/image14.png"/><Relationship Id="rId1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4.xml"/><Relationship Id="rId9" Type="http://schemas.openxmlformats.org/officeDocument/2006/relationships/image" Target="../media/image14.png"/><Relationship Id="rId1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FFFFFF"/>
                </a:solidFill>
                <a:latin typeface="Microsoft YaHei Light"/>
              </a:rPr>
              <a:t>Tuncer Güngören  |  Samsung Innovation Campus AI Course  |  June 2026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A new generation"/>
          <p:cNvSpPr txBox="1"/>
          <p:nvPr/>
        </p:nvSpPr>
        <p:spPr>
          <a:xfrm>
            <a:off x="187937" y="3489462"/>
            <a:ext cx="9500000" cy="110000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algn="l" defTabSz="457200"/>
            <a:r>
              <a:rPr lang="en-US" sz="3600" b="1" dirty="0">
                <a:solidFill>
                  <a:srgbClr val="FFFFFF"/>
                </a:solidFill>
                <a:latin typeface="Microsoft YaHei"/>
              </a:rPr>
              <a:t>AI-Based Prediction of Student</a:t>
            </a:r>
          </a:p>
          <a:p>
            <a:pPr algn="l" defTabSz="457200"/>
            <a:r>
              <a:rPr lang="en-US" sz="3600" b="1" dirty="0">
                <a:solidFill>
                  <a:srgbClr val="FFFFFF"/>
                </a:solidFill>
                <a:latin typeface="Microsoft YaHei"/>
              </a:rPr>
              <a:t>Trajectory Abandonment in Higher Education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545487" y="1343215"/>
            <a:ext cx="5760720" cy="4101144"/>
          </a:xfrm>
          <a:prstGeom prst="rect">
            <a:avLst/>
          </a:prstGeom>
        </p:spPr>
        <p:txBody>
          <a:bodyPr lIns="45719" tIns="45720" rIns="45719" bIns="45720" anchor="t">
            <a:normAutofit fontScale="925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PROJECT OVERVIEW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Predicting student dropout (class A: abandoned vs. B: continuing) using ML on the UPV Longitudinal Dataset (Zenodo 2025).</a:t>
            </a:r>
          </a:p>
          <a:p>
            <a:pPr>
              <a:lnSpc>
                <a:spcPct val="80000"/>
              </a:lnSpc>
              <a:buNone/>
            </a:pPr>
            <a:endParaRPr lang="en-US" sz="8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DATASET AT A GLANCE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159,173 enrollment records across 20,427 unique students, 169 features.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Anonymized: no age/gender. Key features include tuition payment status, displaced status, semester credits, and course grades.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Class imbalance: 93.2% continuing (B) vs. 6.8% abandoned (A).</a:t>
            </a:r>
          </a:p>
          <a:p>
            <a:pPr>
              <a:lnSpc>
                <a:spcPct val="80000"/>
              </a:lnSpc>
              <a:buNone/>
            </a:pPr>
            <a:endParaRPr lang="en-US" sz="8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PROBLEM IMPORTANCE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Early dropout detection enables timely academic interventions, directly supporting equitable access to quality higher education.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Empirical evidence: unpaid tuition fees and low first-semester performance are the strongest dropout risk signals.</a:t>
            </a:r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45487" y="46376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A510B2-9281-819E-67DF-19F4FCE543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7BC30-D2F1-06A9-D22C-3794449ACA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01_target_distribu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6560" y="2377440"/>
            <a:ext cx="4754880" cy="203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2393-56A6-FAE8-1009-785389D1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F7059213-F969-4FAC-22C4-4EF888A7C1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419363" y="1334814"/>
            <a:ext cx="5760720" cy="4800486"/>
          </a:xfrm>
          <a:prstGeom prst="rect">
            <a:avLst/>
          </a:prstGeom>
        </p:spPr>
        <p:txBody>
          <a:bodyPr lIns="45719" tIns="45720" rIns="45719" bIns="45720" anchor="t">
            <a:normAutofit fontScale="925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PRIMARY GOAL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Build a leakage-free, production-ready ML system to predict student trajectory abandonment (class A) vs. continuation (class B) from enrollment data.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ML OBJECTIVES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Train and compare four classifiers: Logistic Regression, Random Forest, HistGradientBoosting (HGB), and MLP Neural Network.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Apply proper student-level group split (GroupShuffleSplit) and in-fold SMOTE via imblearn Pipeline.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Tune hyperparameters using 5-fold StratifiedGroupKFold cross-validation.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Build a Voting Ensemble combining tuned RF, HGB, and MLP for best generalization.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DEPLOYMENT OBJECTIVE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Serialize the best model into a FastAPI microservice (GET /health, POST /predict) ready for integration into university student dashboards.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CDE49FA-4ED4-92FF-9B15-8A1FC2263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363" y="51935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1C23E8-AF93-8A70-2D86-5AF75855BF81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1DEC7F4A-9AF5-9B1E-EE6C-E2D759FD5AF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39268B-7D38-CD57-38E3-7DCF2634103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8A9D22-A74F-66E8-F75E-965360ECD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69068-0841-8EB1-FE09-87C9F0089A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08_semester_comparis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3707" y="2018326"/>
            <a:ext cx="5538930" cy="245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6442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4921-5571-7077-D240-6CD9712E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11F26E03-32FE-286E-6676-C32B550FCD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483199" y="1292772"/>
            <a:ext cx="5760720" cy="4866290"/>
          </a:xfrm>
          <a:prstGeom prst="rect">
            <a:avLst/>
          </a:prstGeom>
        </p:spPr>
        <p:txBody>
          <a:bodyPr lIns="45719" tIns="45720" rIns="45719" bIns="45720" anchor="t">
            <a:normAutofit fontScale="925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SDG 4: QUALITY EDUCATION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This project directly supports UN SDG 4 (“Ensure inclusive and equitable quality education”) by enabling early academic intervention.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An AI-powered early warning system flags at-risk students before the end of their first semester, when intervention is most impactful.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KEY SOCIOECONOMIC DIMENSION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Tuition Payment Status: Students with unpaid course fees drop out at a disproportionately high rate — a critical financial vulnerability signal.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Parental Education (Ablation): Removing studies_p_hash and studies_m_hash dropped RF Macro F1 by -0.85%, confirming socioeconomic factors carry statistically significant predictive power.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REAL-WORLD IMPACT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When integrated into university software, advisors receive proactive alerts in the first semesters — the highest-risk window for dropout.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Target beneficiaries: 20,427+ students in the UPV dataset; scalable to any institution adopting the FastAPI deployment bundle.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703BC68D-2B86-F903-1E3D-7D0510EC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116" y="544788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911266-561D-F218-121A-7BE110544FEB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5C0F4950-A704-2BB1-5275-A1199F349DA4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E2302A-B3FE-DFFB-2B98-ABF3A3D18271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63C00-D6E8-BFFE-6786-7035ADDA02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8D44E-A43F-E916-3BAE-7FB4252E1C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a1_03_demographic_financia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9400" y="2400222"/>
            <a:ext cx="5473560" cy="17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136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EE2B-4051-FD73-F177-2393B2FB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F2A528-A986-AE7B-48C6-B1D944E566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555997" y="1343215"/>
            <a:ext cx="5760720" cy="5041116"/>
          </a:xfrm>
          <a:prstGeom prst="rect">
            <a:avLst/>
          </a:prstGeom>
        </p:spPr>
        <p:txBody>
          <a:bodyPr lIns="45719" tIns="45720" rIns="45719" bIns="45720" anchor="t">
            <a:normAutofit fontScale="925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DATASET: UPV LONGITUDINAL (ZENODO 2025)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Source: MDPI Data Journal / Zenodo 2025  —  Universitat Politècnica de València (UPV) student records.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Scale: 159,173 enrollment records | 20,427 unique students | 169 raw features.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Target: abandono_hash — Class A (abandoned, 6.8%) vs. Class B (continuing, 93.2%).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PREPROCESSING STEPS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Target Leakage Drop: Removed columns that directly encode graduation or active enrollment status (e.g., matricula_activa, rendimiento_total).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Temporal Leakage Drop: Removed 88 monthly LMS event, Wi-Fi, and visit log columns (future-leaking variables).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Categorical Encoding: Non-numeric fields converted to integer indices. Missing values filled with column-median imputation.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TOP PREDICTIVE FEATURES (from RF importance)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cred_pend_sup_tit (0.123) | rendimiento_cuat_b (0.095) | cred_sup_tit (0.093) | cred_mat_normal (0.076) | nota_asig_hash (0.015).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1FEEF04-43E8-C2E1-AA49-27BDBBEDA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4736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9E654A3-8FAB-54A5-9370-FCEA74EFC646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0B56A6F-0668-11B2-348C-1408265457B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E2DB7E-598F-2F84-76FF-939142FCDABF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4FD5BD-0FCF-C116-1612-EF7BF26F10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B3A5C-05A4-75FB-F371-76329ED840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a1_04_dropout_correla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8295" y="1785182"/>
            <a:ext cx="5531577" cy="32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943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E3D3-A246-1FBF-1036-07B63BBB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4142521A-B7C1-D3B8-0D72-BFCAF3903F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441157" y="1297085"/>
            <a:ext cx="5760720" cy="4995809"/>
          </a:xfrm>
          <a:prstGeom prst="rect">
            <a:avLst/>
          </a:prstGeom>
        </p:spPr>
        <p:txBody>
          <a:bodyPr lIns="45719" tIns="45720" rIns="45719" bIns="45720" anchor="t">
            <a:normAutofit fontScale="850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ASSIGNMENT 2 — BASELINE (WITH LEAKAGE)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Row-level split + global pre-CV SMOTE caused student identity leakage, inflating CV F1 to 0.99 and test accuracy to 98%.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Models: Logistic Regression, Random Forest, Gradient Boosting, MLP.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ASSIGNMENT 3 — LEAKAGE-FREE REFINEMENT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GroupShuffleSplit on student ID (dni_hash): entirely disjoint student sets in train/test.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imblearn Pipeline: StandardScaler + SMOTE applied strictly inside each CV fold (no validation leakage).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5-fold StratifiedGroupKFold for tuning: prevents group and class skew across folds.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MODELS &amp; HYPERPARAMETER TUNING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Random Forest — Grid: n_estimators [100,200], max_depth [10,20,None]. Best CV F1: 0.7351.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HistGradientBoosting (≈LightGBM) — Grid: lr [0.01–0.1], max_iter [100,200], l2_reg [0–10]. Best CV F1: 0.7474.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MLP Neural Network — Layers [(64,32),(32,16)], alpha [0.1–5.0]. Best CV F1: 0.7132.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Voting Ensemble — Soft-vote of tuned RF + HGB + MLP for maximum generalization.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4B23841E-5808-5E04-2CC0-9E5C4654A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157" y="4736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Model Selection and Training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/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Testing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7A9FBD-9C91-0E31-84AA-C64E18617A43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ED1211A4-BEC4-6DF1-5C11-FAEB7B9A7D60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7B9DCC-567A-6B1C-0771-F88670B3DA2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3D5BFC0-AF58-A44A-97F7-B33040056F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CB8EE-A636-6ECA-D5AE-93CCF86A3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a2_03_model_comparis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2336" y="2377440"/>
            <a:ext cx="5469104" cy="151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576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0125-0EAB-7433-9BD1-9F8A06B6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8655A231-4A41-EABE-3D1F-8B4085B22F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344327" y="1008993"/>
            <a:ext cx="5760720" cy="5283902"/>
          </a:xfrm>
          <a:prstGeom prst="rect">
            <a:avLst/>
          </a:prstGeom>
        </p:spPr>
        <p:txBody>
          <a:bodyPr lIns="45719" tIns="45720" rIns="45719" bIns="45720" anchor="t">
            <a:normAutofit fontScale="92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FINAL TEST RESULTS (LEAKAGE-FREE, 1,600 UNSEEN STUDENTS)</a:t>
            </a:r>
          </a:p>
          <a:p>
            <a:pPr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8C"/>
                </a:solidFill>
                <a:latin typeface="Microsoft YaHei"/>
              </a:rPr>
              <a:t>Model                         Accuracy    Precision   Recall      Macro F1</a:t>
            </a:r>
          </a:p>
          <a:p>
            <a:pPr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icrosoft YaHei"/>
              </a:rPr>
              <a:t>Tuned Random Forest           93.36%      72.58%      80.16%      75.68%</a:t>
            </a:r>
          </a:p>
          <a:p>
            <a:pPr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icrosoft YaHei"/>
              </a:rPr>
              <a:t>Tuned HistGradientBoosting    94.02%      74.58%      80.39%      77.10%</a:t>
            </a:r>
          </a:p>
          <a:p>
            <a:pPr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icrosoft YaHei"/>
              </a:rPr>
              <a:t>Tuned MLP Neural Network      93.51%      72.63%      76.36%      74.32%</a:t>
            </a:r>
          </a:p>
          <a:p>
            <a:pPr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8C"/>
                </a:solidFill>
                <a:latin typeface="Microsoft YaHei"/>
              </a:rPr>
              <a:t>VOTING ENSEMBLE (BEST)        94.44%      76.07%      79.43%      77.62%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CROSS-VALIDATION STABILITY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5-fold StratifiedGroupKFold CV F1 scores align tightly with test scores (std ±0.002), confirming true generalization on unseen students.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LEAKAGE IMPACT COMPARISON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Assignment 2 (leaked):   CV F1 ≈ 0.99,  Test Accuracy ≈ 98%  ← severely inflated.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Assignment 3 (clean):    CV F1 ≈ 0.74,  Test Accuracy ≈ 94%  ← realistic generalization.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SOCIOECONOMIC ABLATION STUDY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Removing studies_p_hash + studies_m_hash: RF accuracy −0.33%, Macro F1 −0.85% — parental education carries significant, non-trivial signal.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5214560-EDB1-BDFF-BB93-4B378283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012" y="348110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Evaluation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07FB31-9E71-D065-EB98-84E98B7CEE89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34920EB0-ED1C-F718-FB33-2DB2FB707CBD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AF9B99-B034-D6BB-2CEC-380157A76D75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837826-A4BA-D674-8A4C-EE99873D0A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0C84C-A3C4-1F6F-C50F-834AAEBBD5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a3_performance_comparis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38" y="2039007"/>
            <a:ext cx="5235750" cy="345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798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E49-26FB-FE42-C405-FDE9952E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32104420-8BC6-B640-6C00-9CF38C7319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378095" y="1343214"/>
            <a:ext cx="5760720" cy="4983193"/>
          </a:xfrm>
          <a:prstGeom prst="rect">
            <a:avLst/>
          </a:prstGeom>
        </p:spPr>
        <p:txBody>
          <a:bodyPr lIns="45719" tIns="45720" rIns="45719" bIns="45720" anchor="t">
            <a:normAutofit fontScale="77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MODEL SERIALIZATION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Trained Voting Ensemble serialized to best_model.joblib containing: classifier pipeline (with embedded StandardScaler), LabelEncoder, and top-20 feature list.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Scaler fit inside pipeline prevents training-serving skew at inference time.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FASTAPI SERVING ENDPOINTS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GET /health — Returns service status and loaded model details.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POST /predict — Accepts a JSON payload of 20 features; returns prediction (A/B), confidence score, and class probabilities.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Stack: FastAPI + Uvicorn ASGI server | Auto OpenAPI docs | Pydantic input validation.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SECURITY &amp; MONITORING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HTTPS (TLS) for PII in transit | API Key authentication | Rate limiting against DoS.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Accuracy Drift monitoring via end-of-term record joins; Data Drift via KS-tests on feature distributions.</a:t>
            </a:r>
          </a:p>
          <a:p>
            <a:pPr>
              <a:lnSpc>
                <a:spcPct val="80000"/>
              </a:lnSpc>
              <a:buNone/>
            </a:pPr>
            <a:endParaRPr lang="en-US" sz="700" dirty="0">
              <a:latin typeface="Microsoft YaHei"/>
            </a:endParaRPr>
          </a:p>
          <a:p>
            <a:pPr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8C"/>
                </a:solidFill>
                <a:latin typeface="Microsoft YaHei"/>
              </a:rPr>
              <a:t>DEPLOYMENT VALIDATION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Inference tested on 12,575 held-out rows (1,600 unseen students). Prediction latency: sub-second per record via pipeline.predict().</a:t>
            </a:r>
          </a:p>
          <a:p>
            <a:pPr>
              <a:lnSpc>
                <a:spcPct val="110000"/>
              </a:lnSpc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/>
              </a:rPr>
              <a:t>Files: best_model.joblib | assignment3_refinement.py | assignment3_deployment.py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D17768CE-A33E-DF56-D03E-69A57906F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8095" y="4736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Deployment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A1273-D078-5363-F4F9-DB5E45A754B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76B834A-1672-E504-FA55-273D4A0EA76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D3DE01A-3AEA-898F-A7BA-6182A2051DCE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4FF932-CF8F-A315-DC7A-2878D763E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E3CA2-AD21-DC80-E685-896F474CB9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494" name="Picture 493" descr="deployment_fl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4008" y="1695647"/>
            <a:ext cx="4754880" cy="394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206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AF23-DD65-269F-1D8E-1CA6266C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424D67F3-3598-4FAC-91DD-AA981438E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46200F-AEC9-7D97-EAEC-3184EDC342F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316843" y="3569958"/>
            <a:ext cx="2321254" cy="1500188"/>
          </a:xfrm>
        </p:spPr>
        <p:txBody>
          <a:bodyPr/>
          <a:lstStyle/>
          <a:p>
            <a:r>
              <a:rPr lang="en-US" b="1" dirty="0">
                <a:latin typeface="Microsoft YaHei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961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5" ma:contentTypeDescription="Create a new document." ma:contentTypeScope="" ma:versionID="1314add8d98afe7b1ad8b68d04a9bd93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5fce5cc6bbfd5576a0b874f3de58ed7d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</documentManagement>
</p:properties>
</file>

<file path=customXml/itemProps1.xml><?xml version="1.0" encoding="utf-8"?>
<ds:datastoreItem xmlns:ds="http://schemas.openxmlformats.org/officeDocument/2006/customXml" ds:itemID="{C514ABFA-9A30-4B41-8A66-6FBD4BAF2C1A}">
  <ds:schemaRefs>
    <ds:schemaRef ds:uri="6259e846-8b77-4076-b7b3-191dee427045"/>
    <ds:schemaRef ds:uri="97847797-b717-4ffb-b5fd-2a237f853c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2449C5-8A7C-4DDF-8BBD-9834F5F8D2B3}">
  <ds:schemaRefs>
    <ds:schemaRef ds:uri="6259e846-8b77-4076-b7b3-191dee427045"/>
    <ds:schemaRef ds:uri="97847797-b717-4ffb-b5fd-2a237f853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1136</Words>
  <Application>Microsoft Macintosh PowerPoint</Application>
  <PresentationFormat>Widescreen</PresentationFormat>
  <Paragraphs>102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frontiertech</vt:lpstr>
      <vt:lpstr>PowerPoint Presentation</vt:lpstr>
      <vt:lpstr>Background</vt:lpstr>
      <vt:lpstr>Objectives</vt:lpstr>
      <vt:lpstr>SDG Relation</vt:lpstr>
      <vt:lpstr>Data</vt:lpstr>
      <vt:lpstr>Model Selection and Training/Testing</vt:lpstr>
      <vt:lpstr>Evaluation Results</vt:lpstr>
      <vt:lpstr>Deployment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Ahmet Selim TUNCER</cp:lastModifiedBy>
  <cp:revision>21</cp:revision>
  <dcterms:modified xsi:type="dcterms:W3CDTF">2026-06-01T20:56:20Z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